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290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DDF3E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hospital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85697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MedLedger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Blockchain-Based Anti-Counterfeit Pharmaceutical Supply Chain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4408698"/>
            <a:ext cx="8138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976A8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49377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Yadav </a:t>
            </a:r>
            <a:r>
              <a:rPr lang="en-US" sz="13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(25BCE1639)      </a:t>
            </a:r>
            <a:r>
              <a:rPr lang="en-US" sz="1300" b="1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Suyash Singh </a:t>
            </a:r>
            <a:r>
              <a:rPr lang="en-US" sz="13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(25BCE5267)      </a:t>
            </a:r>
            <a:r>
              <a:rPr lang="en-US" sz="1300" b="1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Avantika </a:t>
            </a:r>
            <a:r>
              <a:rPr lang="en-US" sz="1300" b="1" dirty="0" err="1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Battamsetty</a:t>
            </a:r>
            <a:r>
              <a:rPr lang="en-US" sz="1300" b="1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(25BCE1767)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532180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Counterfeit Crisis</a:t>
            </a:r>
            <a:endParaRPr lang="en-US" sz="3200" dirty="0"/>
          </a:p>
        </p:txBody>
      </p:sp>
      <p:pic>
        <p:nvPicPr>
          <p:cNvPr id="3" name="Image 0" descr="/home/claude/assets/pill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EAF6FA">
              <a:alpha val="2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1732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DDF3E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3619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2194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medical products in developing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are substandard or falsified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77640" y="141732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DDF3EC"/>
          </a:solidFill>
          <a:ln/>
        </p:spPr>
      </p:sp>
      <p:sp>
        <p:nvSpPr>
          <p:cNvPr id="9" name="Text 6"/>
          <p:cNvSpPr/>
          <p:nvPr/>
        </p:nvSpPr>
        <p:spPr>
          <a:xfrm>
            <a:off x="3977640" y="153619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$30.5B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114800" y="2194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worldwide 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ineffective, falsified treatments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3273552"/>
            <a:ext cx="109728" cy="109728"/>
          </a:xfrm>
          <a:prstGeom prst="ellipse">
            <a:avLst/>
          </a:prstGeom>
          <a:solidFill>
            <a:srgbClr val="159A8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12724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medicines fail to treat disease, contribute to avoidable deaths, and accelerate antimicrobial resistance.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325112"/>
            <a:ext cx="109728" cy="109728"/>
          </a:xfrm>
          <a:prstGeom prst="ellipse">
            <a:avLst/>
          </a:prstGeom>
          <a:solidFill>
            <a:srgbClr val="159A8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17880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supply chain suffers from fragmented databases, creating vulnerabilities that counterfeiters exploit.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297680"/>
          </a:xfrm>
          <a:prstGeom prst="roundRect">
            <a:avLst>
              <a:gd name="adj" fmla="val 3636"/>
            </a:avLst>
          </a:prstGeom>
          <a:solidFill>
            <a:srgbClr val="EAF6FA"/>
          </a:solidFill>
          <a:ln/>
        </p:spPr>
      </p:sp>
      <p:sp>
        <p:nvSpPr>
          <p:cNvPr id="4" name="Shape 2"/>
          <p:cNvSpPr/>
          <p:nvPr/>
        </p:nvSpPr>
        <p:spPr>
          <a:xfrm>
            <a:off x="1897380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databas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2134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9718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5661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maintain private, disconnected databases. A single, shared, trustworthy record of a product's journey does not currently exist across the chain.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520440" cy="4297680"/>
          </a:xfrm>
          <a:prstGeom prst="roundRect">
            <a:avLst>
              <a:gd name="adj" fmla="val 3636"/>
            </a:avLst>
          </a:prstGeom>
          <a:solidFill>
            <a:srgbClr val="DDF3EC"/>
          </a:solidFill>
          <a:ln/>
        </p:spPr>
      </p:sp>
      <p:sp>
        <p:nvSpPr>
          <p:cNvPr id="9" name="Shape 6"/>
          <p:cNvSpPr/>
          <p:nvPr/>
        </p:nvSpPr>
        <p:spPr>
          <a:xfrm>
            <a:off x="5737860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handshak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30" y="213421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9718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Trust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09160" y="35661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competitors cannot share a centralized database due to lack of mutual trust. Without verification, falsified records and products easily enter the system.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20440" cy="4297680"/>
          </a:xfrm>
          <a:prstGeom prst="roundRect">
            <a:avLst>
              <a:gd name="adj" fmla="val 3636"/>
            </a:avLst>
          </a:prstGeom>
          <a:solidFill>
            <a:srgbClr val="EAF6FA"/>
          </a:solidFill>
          <a:ln/>
        </p:spPr>
      </p:sp>
      <p:sp>
        <p:nvSpPr>
          <p:cNvPr id="14" name="Shape 10"/>
          <p:cNvSpPr/>
          <p:nvPr/>
        </p:nvSpPr>
        <p:spPr>
          <a:xfrm>
            <a:off x="9578340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icons/rout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2310" y="213421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9718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Traceability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549640" y="35661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emergency, reconciling records across multiple companies takes days. Recalls are extremely slow, endangering public health and patient safety.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4" name="Image 0" descr="/home/claude/icons/quote_blue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394960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468880"/>
            <a:ext cx="9235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i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conventional centralized database cannot solve this problem on its own. Combining a blockchain with a relational database and a graph database yields a system that is trustworthy, efficient, and analytically powerful.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394960" y="4892040"/>
            <a:ext cx="1371600" cy="27432"/>
          </a:xfrm>
          <a:prstGeom prst="rect">
            <a:avLst/>
          </a:prstGeom>
          <a:solidFill>
            <a:srgbClr val="159A8C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507492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MEDLEDGER MOTIVATION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4434840"/>
          </a:xfrm>
          <a:prstGeom prst="roundRect">
            <a:avLst>
              <a:gd name="adj" fmla="val 3636"/>
            </a:avLst>
          </a:prstGeom>
          <a:solidFill>
            <a:srgbClr val="EAF6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databas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0071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791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LAYER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" y="29535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Relational DB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6616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high-volume, detailed data including batches, quality tests, and privacy-sensitive dispensing records natively.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508760"/>
            <a:ext cx="3520440" cy="4434840"/>
          </a:xfrm>
          <a:prstGeom prst="roundRect">
            <a:avLst>
              <a:gd name="adj" fmla="val 3636"/>
            </a:avLst>
          </a:prstGeom>
          <a:solidFill>
            <a:srgbClr val="126B68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8288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icons/link_deep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468" y="20071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6791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D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09160" y="29535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356616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permissioned blockchain maintaining an immutable record of custody handoffs requiring multi-party endorsement.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1508760"/>
            <a:ext cx="3520440" cy="4434840"/>
          </a:xfrm>
          <a:prstGeom prst="roundRect">
            <a:avLst>
              <a:gd name="adj" fmla="val 3636"/>
            </a:avLst>
          </a:prstGeom>
          <a:solidFill>
            <a:srgbClr val="EAF6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9640" y="18288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icons/network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948" y="20071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26791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LAYER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549640" y="29535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DB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549640" y="356616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blockchain custody events as graph nodes. Enables rapid provenance tracing and counterfeit pattern detection.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Model: Advanced Concepts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2800"/>
            </a:avLst>
          </a:prstGeom>
          <a:solidFill>
            <a:srgbClr val="DDF3E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745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sitemap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20766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9280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/ Specialization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entity is generalized into four distinct subclasses: Manufacturer, Distributor, Pharmacy, and Regulator. This is an attribute-defined, disjoint, and total specialization. Each party plays exactly one role (Disjoint) and must belong to one of these subclasses (Total), sharing a common party_id.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2800"/>
            </a:avLst>
          </a:prstGeom>
          <a:solidFill>
            <a:srgbClr val="EAF6FA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8745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objectgroup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482" y="207660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189280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for Traceability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629400" y="292608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custody transfer event (PARTY SENDS SHIPMENT RECEIVES) is treated as a single higher-level object. This aggregation is crucial because the transaction is mirrored as one custody-transfer on Hyperledger Fabric and as one edge between PARTY nodes in the Neo4j provenance graph.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Mapping (Subset)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 (Dependencies)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party_id (PK), party_name, address, phone…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batch_id (PK), batch_status, manufacture_date…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drug_id, manufacturer_id, recall_id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package_id (PK), package_size, packaged_at…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batch_id, dispense_id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shipment_id (PK), shipment_date, status,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sender_party_id, receiver_party_id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AF6F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12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 includes TEST, DISPENSING, and RECALL relations, each enforcing 3NF/BCNF integrity.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Normalization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59A8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4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→ 2NF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85623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partial dependencies. Attributes purely dependent on batch_id or test_id were split into separate BATCH and TEST relations.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159A8C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7614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→ 3NF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315468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transitive dependencies. We isolated PACKAGE, SHIPMENT, and DISPENSING into clean, separate tables.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105656"/>
            <a:ext cx="502920" cy="502920"/>
          </a:xfrm>
          <a:prstGeom prst="ellipse">
            <a:avLst/>
          </a:prstGeom>
          <a:solidFill>
            <a:srgbClr val="159A8C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34440" y="405993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Verification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4453128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checks ensured that in all final relations (PARTY, MANUFACTURER, PACKAGE, etc.), the only determinants are candidate keys.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449824"/>
            <a:ext cx="6720840" cy="868680"/>
          </a:xfrm>
          <a:prstGeom prst="roundRect">
            <a:avLst>
              <a:gd name="adj" fmla="val 12632"/>
            </a:avLst>
          </a:prstGeom>
          <a:solidFill>
            <a:srgbClr val="DDF3EC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449824"/>
            <a:ext cx="6263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strict progression guarantees maximum structural integrity and eliminates update anomalies across the operational layer.</a:t>
            </a:r>
            <a:endParaRPr lang="en-US" sz="12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5D08ACA-3204-2DB7-CB2C-B2F0A8A6F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0"/>
            <a:ext cx="48434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Verification</a:t>
            </a:r>
            <a:endParaRPr lang="en-US" sz="3200" dirty="0"/>
          </a:p>
        </p:txBody>
      </p:sp>
      <p:pic>
        <p:nvPicPr>
          <p:cNvPr id="3" name="Image 0" descr="/home/claude/assets/qrcod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976A8">
              <a:alpha val="1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rgbClr val="DDF3EC"/>
          </a:solidFill>
          <a:ln/>
        </p:spPr>
      </p:sp>
      <p:pic>
        <p:nvPicPr>
          <p:cNvPr id="6" name="Image 1" descr="/home/claude/icons/mapmarked_deep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1687068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57276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Transparency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8640" y="2377440"/>
            <a:ext cx="6720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Neo4j graph architecture maps the physical journey of a medical package. By treating transfers as connected nodes, the system identifies illogical patterns — such as duplicated package events or impossible geographical jumps — instantly flagging counterfeits.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4206240"/>
            <a:ext cx="685800" cy="685800"/>
          </a:xfrm>
          <a:prstGeom prst="ellipse">
            <a:avLst/>
          </a:prstGeom>
          <a:solidFill>
            <a:srgbClr val="DDF3EC"/>
          </a:solidFill>
          <a:ln/>
        </p:spPr>
      </p:sp>
      <p:pic>
        <p:nvPicPr>
          <p:cNvPr id="10" name="Image 2" descr="/home/claude/icons/qrcode_deep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438454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427024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QR Verification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48640" y="5029200"/>
            <a:ext cx="6720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of medicine carries a cryptographic QR code encoding a unique package_id. Consumers, pharmacists, or regulators simply scan the code to seamlessly interface across the Oracle and Hyperledger layers, confirming authenticity on the spot.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DDF3E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shield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1961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373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Security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reliance on untrusted central databases by enforcing multi-party endorsements for every custody transfer.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DDF3EC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783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cogs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19613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7373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Polyglot Architecture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83680" y="25603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Intelligently delegates operational detail to Oracle, immutable trust to Hyperledger, and complex supply chain analytics to Neo4j.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EAF6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069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icons/bol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" y="42473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0233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Incident Response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68680" y="48463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Revolutionizes product recalls; graph-based tracing lets stakeholders identify impacted downstream nodes in milliseconds.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37490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EAF6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583680" y="4069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icons/userche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988" y="42473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40233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Empowerment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83680" y="48463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safety by placing authenticity verification directly into the hands of the end-user via standard mobile scanning.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DDF3E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31536" y="14173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question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054" y="16788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exploring the MedLedger Project Proposal.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AQUACARE  |  MODERN HEALTHCARE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7F8"/>
          </a:solidFill>
          <a:ln/>
        </p:spPr>
      </p:sp>
      <p:pic>
        <p:nvPicPr>
          <p:cNvPr id="4" name="Image 0" descr="/home/claude/assets/pill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2331720"/>
            <a:ext cx="169164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www.pharmtech.com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0" y="27706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cdn.sanity.io/.../58973d42e62bafeff2e93605877c8a095646941d-1280x720.jpg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7F8"/>
          </a:solidFill>
          <a:ln/>
        </p:spPr>
      </p:sp>
      <p:pic>
        <p:nvPicPr>
          <p:cNvPr id="8" name="Image 1" descr="/home/claude/assets/qrcod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4023360"/>
            <a:ext cx="1691640" cy="1051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0" y="4069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www.oloid.com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743200" y="446227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cdn.prod.website-files.com/.../contactless-authentication.webp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834</Words>
  <Application>Microsoft Office PowerPoint</Application>
  <PresentationFormat>Widescreen</PresentationFormat>
  <Paragraphs>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adityay190107@outlook.com</cp:lastModifiedBy>
  <cp:revision>2</cp:revision>
  <dcterms:created xsi:type="dcterms:W3CDTF">2026-08-23T17:53:51Z</dcterms:created>
  <dcterms:modified xsi:type="dcterms:W3CDTF">2026-08-23T17:57:50Z</dcterms:modified>
</cp:coreProperties>
</file>